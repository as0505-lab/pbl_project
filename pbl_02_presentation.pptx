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1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492FA-6710-41E6-9D2A-9331CEB3339E}" v="1" dt="2026-02-12T17:22:01.732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5258" autoAdjust="0"/>
  </p:normalViewPr>
  <p:slideViewPr>
    <p:cSldViewPr snapToGrid="0">
      <p:cViewPr varScale="1">
        <p:scale>
          <a:sx n="87" d="100"/>
          <a:sy n="87" d="100"/>
        </p:scale>
        <p:origin x="412" y="6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ya Shukla" userId="0773896eae4f1cc8" providerId="LiveId" clId="{624A3D92-F062-448F-BD7A-1ECF922A87A1}"/>
    <pc:docChg chg="custSel delSld modSld">
      <pc:chgData name="Ananya Shukla" userId="0773896eae4f1cc8" providerId="LiveId" clId="{624A3D92-F062-448F-BD7A-1ECF922A87A1}" dt="2026-02-12T17:23:07.354" v="58" actId="20577"/>
      <pc:docMkLst>
        <pc:docMk/>
      </pc:docMkLst>
      <pc:sldChg chg="del">
        <pc:chgData name="Ananya Shukla" userId="0773896eae4f1cc8" providerId="LiveId" clId="{624A3D92-F062-448F-BD7A-1ECF922A87A1}" dt="2026-02-12T17:21:32.603" v="0" actId="47"/>
        <pc:sldMkLst>
          <pc:docMk/>
          <pc:sldMk cId="2188828507" sldId="304"/>
        </pc:sldMkLst>
      </pc:sldChg>
      <pc:sldChg chg="addSp delSp modSp mod">
        <pc:chgData name="Ananya Shukla" userId="0773896eae4f1cc8" providerId="LiveId" clId="{624A3D92-F062-448F-BD7A-1ECF922A87A1}" dt="2026-02-12T17:23:07.354" v="58" actId="20577"/>
        <pc:sldMkLst>
          <pc:docMk/>
          <pc:sldMk cId="3064996118" sldId="315"/>
        </pc:sldMkLst>
        <pc:spChg chg="del">
          <ac:chgData name="Ananya Shukla" userId="0773896eae4f1cc8" providerId="LiveId" clId="{624A3D92-F062-448F-BD7A-1ECF922A87A1}" dt="2026-02-12T17:21:52.769" v="2" actId="478"/>
          <ac:spMkLst>
            <pc:docMk/>
            <pc:sldMk cId="3064996118" sldId="315"/>
            <ac:spMk id="3" creationId="{E45F873D-7925-59CD-C97D-8131C2C1D783}"/>
          </ac:spMkLst>
        </pc:spChg>
        <pc:spChg chg="add del mod">
          <ac:chgData name="Ananya Shukla" userId="0773896eae4f1cc8" providerId="LiveId" clId="{624A3D92-F062-448F-BD7A-1ECF922A87A1}" dt="2026-02-12T17:22:38.926" v="37"/>
          <ac:spMkLst>
            <pc:docMk/>
            <pc:sldMk cId="3064996118" sldId="315"/>
            <ac:spMk id="5" creationId="{06E100E0-C35A-001C-366C-5C8CE1A8F384}"/>
          </ac:spMkLst>
        </pc:spChg>
        <pc:spChg chg="add mod">
          <ac:chgData name="Ananya Shukla" userId="0773896eae4f1cc8" providerId="LiveId" clId="{624A3D92-F062-448F-BD7A-1ECF922A87A1}" dt="2026-02-12T17:23:07.354" v="58" actId="20577"/>
          <ac:spMkLst>
            <pc:docMk/>
            <pc:sldMk cId="3064996118" sldId="315"/>
            <ac:spMk id="7" creationId="{E263AC80-D984-D06F-5381-A0CBFEE8F0D8}"/>
          </ac:spMkLst>
        </pc:spChg>
        <pc:spChg chg="del">
          <ac:chgData name="Ananya Shukla" userId="0773896eae4f1cc8" providerId="LiveId" clId="{624A3D92-F062-448F-BD7A-1ECF922A87A1}" dt="2026-02-12T17:21:37.684" v="1" actId="478"/>
          <ac:spMkLst>
            <pc:docMk/>
            <pc:sldMk cId="3064996118" sldId="315"/>
            <ac:spMk id="10" creationId="{4E4F88F8-17E5-45E3-77B1-77FACD99FF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9718" y="1398494"/>
            <a:ext cx="6304506" cy="140617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IN" sz="2000" b="1" dirty="0"/>
              <a:t>School of Computer Science and Engineering</a:t>
            </a:r>
            <a:br>
              <a:rPr lang="en-IN" sz="2000" b="1" dirty="0"/>
            </a:br>
            <a:r>
              <a:rPr lang="en-IN" sz="2000" b="1" dirty="0"/>
              <a:t>Department of Computer Science and Engineering</a:t>
            </a:r>
            <a:br>
              <a:rPr lang="en-IN" sz="2000" b="1" dirty="0"/>
            </a:br>
            <a:endParaRPr lang="en-US" sz="2000" dirty="0"/>
          </a:p>
        </p:txBody>
      </p:sp>
      <p:pic>
        <p:nvPicPr>
          <p:cNvPr id="2" name="Picture 1" descr="A black and white text">
            <a:extLst>
              <a:ext uri="{FF2B5EF4-FFF2-40B4-BE49-F238E27FC236}">
                <a16:creationId xmlns:a16="http://schemas.microsoft.com/office/drawing/2014/main" id="{6231536B-8FE8-071E-4BDA-F99AC1096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32" y="235824"/>
            <a:ext cx="4509665" cy="1222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F243CA-CDA5-B9C5-616D-B755A5B03B71}"/>
              </a:ext>
            </a:extLst>
          </p:cNvPr>
          <p:cNvSpPr txBox="1"/>
          <p:nvPr/>
        </p:nvSpPr>
        <p:spPr>
          <a:xfrm>
            <a:off x="2650992" y="3050153"/>
            <a:ext cx="7952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latin typeface="Aharoni" panose="02010803020104030203" pitchFamily="2" charset="-79"/>
                <a:cs typeface="Aharoni" panose="02010803020104030203" pitchFamily="2" charset="-79"/>
              </a:rPr>
              <a:t>Student Performance Analysis Using Data Analytics</a:t>
            </a:r>
            <a:endParaRPr lang="en-IN" sz="2400" b="1" i="1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ECBA7-BDF8-266C-CCAD-4C010C5D80FC}"/>
              </a:ext>
            </a:extLst>
          </p:cNvPr>
          <p:cNvSpPr txBox="1"/>
          <p:nvPr/>
        </p:nvSpPr>
        <p:spPr>
          <a:xfrm>
            <a:off x="208332" y="4672515"/>
            <a:ext cx="38650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Submitted By: </a:t>
            </a:r>
            <a:r>
              <a:rPr lang="en-US" sz="2200" b="1" i="1" dirty="0">
                <a:solidFill>
                  <a:srgbClr val="000000"/>
                </a:solidFill>
              </a:rPr>
              <a:t>Ananya Shukla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Registration No. - 2427030029</a:t>
            </a:r>
            <a:endParaRPr lang="en-IN" sz="2200" b="1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C78B5-7792-2FA0-0C8C-10013E8793C1}"/>
              </a:ext>
            </a:extLst>
          </p:cNvPr>
          <p:cNvSpPr txBox="1"/>
          <p:nvPr/>
        </p:nvSpPr>
        <p:spPr>
          <a:xfrm>
            <a:off x="208332" y="5587731"/>
            <a:ext cx="46488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000000"/>
                </a:solidFill>
              </a:rPr>
              <a:t>Supervised By -  </a:t>
            </a:r>
            <a:r>
              <a:rPr lang="en-IN" sz="2200" b="1" i="1" dirty="0">
                <a:solidFill>
                  <a:srgbClr val="000000"/>
                </a:solidFill>
              </a:rPr>
              <a:t>Dr. Onkar Singh</a:t>
            </a:r>
            <a:endParaRPr lang="en-IN" sz="22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40CE49-EB30-C6CB-6D67-1688FA692C31}"/>
              </a:ext>
            </a:extLst>
          </p:cNvPr>
          <p:cNvSpPr txBox="1"/>
          <p:nvPr/>
        </p:nvSpPr>
        <p:spPr>
          <a:xfrm>
            <a:off x="153682" y="184417"/>
            <a:ext cx="6539111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u="sng" dirty="0">
                <a:solidFill>
                  <a:srgbClr val="000000"/>
                </a:solidFill>
              </a:rPr>
              <a:t>Introduction</a:t>
            </a:r>
            <a:r>
              <a:rPr lang="en-IN" sz="2600" b="1" dirty="0">
                <a:solidFill>
                  <a:srgbClr val="000000"/>
                </a:solidFill>
              </a:rPr>
              <a:t> – </a:t>
            </a:r>
          </a:p>
          <a:p>
            <a:endParaRPr lang="en-IN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Education plays a critical role in shaping future generations.</a:t>
            </a:r>
            <a:br>
              <a:rPr lang="en-US" sz="2000" b="1" dirty="0">
                <a:solidFill>
                  <a:srgbClr val="000000"/>
                </a:solidFill>
              </a:rPr>
            </a:br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Analyzing student performance using data analytics helps: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Identify key factors affecting academic success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Understand socio-economic impact on education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Improve institutional decision-making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Provide targeted academic support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The project uses an authentic dataset from Kaggle: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Students Performance in Exams Dataset</a:t>
            </a: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  <a:p>
            <a:endParaRPr lang="en-IN" sz="2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7" y="248717"/>
            <a:ext cx="6490411" cy="5694883"/>
          </a:xfrm>
        </p:spPr>
        <p:txBody>
          <a:bodyPr/>
          <a:lstStyle/>
          <a:p>
            <a:r>
              <a:rPr lang="en-US" sz="2200" dirty="0">
                <a:solidFill>
                  <a:srgbClr val="000000"/>
                </a:solidFill>
              </a:rPr>
              <a:t>The dataset contains:</a:t>
            </a:r>
            <a:br>
              <a:rPr lang="en-US" sz="2200" dirty="0">
                <a:solidFill>
                  <a:srgbClr val="000000"/>
                </a:solidFill>
              </a:rPr>
            </a:br>
            <a:br>
              <a:rPr lang="en-US" sz="2200" dirty="0">
                <a:solidFill>
                  <a:srgbClr val="000000"/>
                </a:solidFill>
              </a:rPr>
            </a:br>
            <a:r>
              <a:rPr lang="en-US" sz="2200" dirty="0">
                <a:solidFill>
                  <a:srgbClr val="000000"/>
                </a:solidFill>
              </a:rPr>
              <a:t>1000 student records</a:t>
            </a:r>
            <a:br>
              <a:rPr lang="en-US" sz="2200" dirty="0">
                <a:solidFill>
                  <a:srgbClr val="000000"/>
                </a:solidFill>
              </a:rPr>
            </a:br>
            <a:br>
              <a:rPr lang="en-US" sz="2200" dirty="0">
                <a:solidFill>
                  <a:srgbClr val="000000"/>
                </a:solidFill>
              </a:rPr>
            </a:br>
            <a:r>
              <a:rPr lang="en-US" sz="2200" dirty="0">
                <a:solidFill>
                  <a:srgbClr val="000000"/>
                </a:solidFill>
              </a:rPr>
              <a:t>Academic scores in Math, Reading, Writing</a:t>
            </a:r>
            <a:br>
              <a:rPr lang="en-US" sz="2200" dirty="0">
                <a:solidFill>
                  <a:srgbClr val="000000"/>
                </a:solidFill>
              </a:rPr>
            </a:br>
            <a:r>
              <a:rPr lang="en-US" sz="2200" dirty="0">
                <a:solidFill>
                  <a:srgbClr val="000000"/>
                </a:solidFill>
              </a:rPr>
              <a:t>Demographic &amp; socioeconomic factors</a:t>
            </a:r>
            <a:br>
              <a:rPr lang="en-US" sz="2200" dirty="0">
                <a:solidFill>
                  <a:srgbClr val="000000"/>
                </a:solidFill>
              </a:rPr>
            </a:br>
            <a:br>
              <a:rPr lang="en-US" sz="2200" dirty="0">
                <a:solidFill>
                  <a:srgbClr val="000000"/>
                </a:solidFill>
              </a:rPr>
            </a:br>
            <a:r>
              <a:rPr lang="en-US" sz="2200" dirty="0">
                <a:solidFill>
                  <a:srgbClr val="000000"/>
                </a:solidFill>
              </a:rPr>
              <a:t>Test preparation information</a:t>
            </a:r>
            <a:br>
              <a:rPr lang="en-US" sz="2200" dirty="0">
                <a:solidFill>
                  <a:srgbClr val="000000"/>
                </a:solidFill>
              </a:rPr>
            </a:br>
            <a:br>
              <a:rPr lang="en-US" sz="2200" dirty="0">
                <a:solidFill>
                  <a:srgbClr val="000000"/>
                </a:solidFill>
              </a:rPr>
            </a:br>
            <a:r>
              <a:rPr lang="en-US" sz="2200" dirty="0">
                <a:solidFill>
                  <a:srgbClr val="000000"/>
                </a:solidFill>
              </a:rPr>
              <a:t>This analysis aims to derive meaningful insights using exploratory data analysis and statistical techniques.</a:t>
            </a:r>
            <a:br>
              <a:rPr lang="en-US" sz="2200" dirty="0"/>
            </a:b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FFD4E7-8438-B08E-39AC-EA0AC952A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604" y="790043"/>
            <a:ext cx="5788163" cy="48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55259C-21E9-5146-3A01-1B1FD40144A5}"/>
              </a:ext>
            </a:extLst>
          </p:cNvPr>
          <p:cNvSpPr txBox="1"/>
          <p:nvPr/>
        </p:nvSpPr>
        <p:spPr>
          <a:xfrm>
            <a:off x="782726" y="460857"/>
            <a:ext cx="4308653" cy="1071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Literature Review</a:t>
            </a:r>
            <a:r>
              <a:rPr lang="en-IN" sz="2400" b="1" dirty="0"/>
              <a:t> -  </a:t>
            </a:r>
          </a:p>
          <a:p>
            <a:endParaRPr lang="en-IN" sz="2400" b="1" dirty="0"/>
          </a:p>
          <a:p>
            <a:r>
              <a:rPr lang="en-US" dirty="0">
                <a:solidFill>
                  <a:srgbClr val="000000"/>
                </a:solidFill>
              </a:rPr>
              <a:t>Previous research in Educational Data Mining shows: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Parental education significantly influences academic achievement.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Socioeconomic status affects student performance.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Test preparation improves academic outcomes.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Reading and writing scores are highly correlated.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Researchers have used statistical analysis and predictive analytics to evaluate student</a:t>
            </a:r>
          </a:p>
          <a:p>
            <a:r>
              <a:rPr lang="en-US" dirty="0">
                <a:solidFill>
                  <a:srgbClr val="000000"/>
                </a:solidFill>
              </a:rPr>
              <a:t>success patterns</a:t>
            </a:r>
            <a:r>
              <a:rPr lang="en-US" sz="2400" dirty="0"/>
              <a:t>.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C5093-356B-DFE0-593F-087023DFE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1" y="980236"/>
            <a:ext cx="6481266" cy="53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54" y="907086"/>
            <a:ext cx="5435193" cy="4418380"/>
          </a:xfrm>
        </p:spPr>
        <p:txBody>
          <a:bodyPr/>
          <a:lstStyle/>
          <a:p>
            <a:r>
              <a:rPr lang="en-US" sz="1800" dirty="0">
                <a:solidFill>
                  <a:srgbClr val="000000"/>
                </a:solidFill>
              </a:rPr>
              <a:t>Studies indicate that:</a:t>
            </a:r>
            <a:br>
              <a:rPr lang="en-US" sz="1800" dirty="0">
                <a:solidFill>
                  <a:srgbClr val="000000"/>
                </a:solidFill>
              </a:rPr>
            </a:b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Gender differences exist in subject-wise performance.</a:t>
            </a:r>
            <a:br>
              <a:rPr lang="en-US" sz="1800" dirty="0">
                <a:solidFill>
                  <a:srgbClr val="000000"/>
                </a:solidFill>
              </a:rPr>
            </a:b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Students from financially stable backgrounds perform better.</a:t>
            </a:r>
            <a:br>
              <a:rPr lang="en-US" sz="1800" dirty="0">
                <a:solidFill>
                  <a:srgbClr val="000000"/>
                </a:solidFill>
              </a:rPr>
            </a:b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Data-driven interventions improve academic outcomes.</a:t>
            </a:r>
            <a:br>
              <a:rPr lang="en-US" sz="1800" dirty="0">
                <a:solidFill>
                  <a:srgbClr val="000000"/>
                </a:solidFill>
              </a:rPr>
            </a:b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This project builds upon these findings using real-world student exam data.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6B3DF-7E31-C919-6A1B-F468E6076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540" y="643737"/>
            <a:ext cx="6261811" cy="582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3862426" cy="475488"/>
          </a:xfrm>
        </p:spPr>
        <p:txBody>
          <a:bodyPr anchor="b"/>
          <a:lstStyle/>
          <a:p>
            <a:r>
              <a:rPr lang="en-IN" sz="2400" b="1" u="sng" dirty="0">
                <a:solidFill>
                  <a:srgbClr val="000000"/>
                </a:solidFill>
              </a:rPr>
              <a:t>Problem Statement </a:t>
            </a:r>
            <a:r>
              <a:rPr lang="en-IN" sz="2400" b="1" dirty="0">
                <a:solidFill>
                  <a:srgbClr val="000000"/>
                </a:solidFill>
              </a:rPr>
              <a:t>-  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7434" y="1653235"/>
            <a:ext cx="11448288" cy="4418381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Agency FB" panose="020B0503020202020204" pitchFamily="34" charset="0"/>
              </a:rPr>
              <a:t>To analyze student academic performance and identify the key demographic and socioeconomic factors that significantly influence examination outcomes.</a:t>
            </a:r>
          </a:p>
          <a:p>
            <a:endParaRPr lang="en-US" sz="1800" b="1" dirty="0">
              <a:solidFill>
                <a:srgbClr val="000000"/>
              </a:solidFill>
              <a:latin typeface="Agency FB" panose="020B0503020202020204" pitchFamily="34" charset="0"/>
            </a:endParaRPr>
          </a:p>
          <a:p>
            <a:pPr algn="l"/>
            <a:endParaRPr lang="en-US" u="sng" dirty="0">
              <a:solidFill>
                <a:srgbClr val="000000"/>
              </a:solidFill>
              <a:latin typeface="Agency FB" panose="020B0503020202020204" pitchFamily="34" charset="0"/>
            </a:endParaRPr>
          </a:p>
          <a:p>
            <a:pPr algn="l"/>
            <a:r>
              <a:rPr lang="en-IN" u="sng" dirty="0">
                <a:solidFill>
                  <a:srgbClr val="000000"/>
                </a:solidFill>
                <a:latin typeface="Agency FB" panose="020B0503020202020204" pitchFamily="34" charset="0"/>
              </a:rPr>
              <a:t>Objectives – </a:t>
            </a:r>
          </a:p>
          <a:p>
            <a:pPr algn="l"/>
            <a:endParaRPr lang="en-IN" u="sng" dirty="0">
              <a:solidFill>
                <a:srgbClr val="000000"/>
              </a:solidFill>
              <a:latin typeface="Agency FB" panose="020B0503020202020204" pitchFamily="34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</a:rPr>
              <a:t>To explore the distribution of student scores.</a:t>
            </a:r>
          </a:p>
          <a:p>
            <a:pPr algn="l"/>
            <a:endParaRPr lang="en-US" sz="1800" dirty="0">
              <a:solidFill>
                <a:srgbClr val="000000"/>
              </a:solidFill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</a:rPr>
              <a:t>To analyze the impact of parental education and socioeconomic factors.</a:t>
            </a:r>
          </a:p>
          <a:p>
            <a:pPr algn="l"/>
            <a:endParaRPr lang="en-US" sz="1800" dirty="0">
              <a:solidFill>
                <a:srgbClr val="000000"/>
              </a:solidFill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</a:rPr>
              <a:t>To evaluate the effect of test preparation on performance.</a:t>
            </a:r>
          </a:p>
          <a:p>
            <a:pPr algn="l"/>
            <a:endParaRPr lang="en-US" sz="1800" dirty="0">
              <a:solidFill>
                <a:srgbClr val="000000"/>
              </a:solidFill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</a:rPr>
              <a:t>To identify correlations among subjects.</a:t>
            </a:r>
          </a:p>
          <a:p>
            <a:pPr algn="l"/>
            <a:endParaRPr lang="en-US" u="sng" dirty="0">
              <a:solidFill>
                <a:srgbClr val="00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b="1" dirty="0">
                <a:solidFill>
                  <a:srgbClr val="000000"/>
                </a:solidFill>
              </a:rPr>
              <a:t>Proposed Methodology - 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/>
          <a:lstStyle/>
          <a:p>
            <a:r>
              <a:rPr lang="en-IN" b="1" dirty="0">
                <a:solidFill>
                  <a:srgbClr val="000000"/>
                </a:solidFill>
              </a:rPr>
              <a:t>Step 1: Data Collection</a:t>
            </a:r>
          </a:p>
          <a:p>
            <a:r>
              <a:rPr lang="en-IN" b="1" dirty="0">
                <a:solidFill>
                  <a:srgbClr val="000000"/>
                </a:solidFill>
              </a:rPr>
              <a:t>Dataset obtained from Kaggle</a:t>
            </a:r>
          </a:p>
          <a:p>
            <a:r>
              <a:rPr lang="en-IN" b="1" dirty="0">
                <a:solidFill>
                  <a:srgbClr val="000000"/>
                </a:solidFill>
              </a:rPr>
              <a:t>CSV format (StudentsPerformance.csv)</a:t>
            </a:r>
          </a:p>
          <a:p>
            <a:endParaRPr lang="en-IN" b="1" dirty="0">
              <a:solidFill>
                <a:srgbClr val="000000"/>
              </a:solidFill>
            </a:endParaRPr>
          </a:p>
          <a:p>
            <a:r>
              <a:rPr lang="en-IN" b="1" dirty="0">
                <a:solidFill>
                  <a:srgbClr val="000000"/>
                </a:solidFill>
              </a:rPr>
              <a:t>Step 2: Data Preprocessing</a:t>
            </a:r>
          </a:p>
          <a:p>
            <a:r>
              <a:rPr lang="en-IN" b="1" dirty="0">
                <a:solidFill>
                  <a:srgbClr val="000000"/>
                </a:solidFill>
              </a:rPr>
              <a:t>Checked for missing values</a:t>
            </a:r>
          </a:p>
          <a:p>
            <a:r>
              <a:rPr lang="en-IN" b="1" dirty="0">
                <a:solidFill>
                  <a:srgbClr val="000000"/>
                </a:solidFill>
              </a:rPr>
              <a:t>Created Total Score &amp; Average Score</a:t>
            </a:r>
          </a:p>
          <a:p>
            <a:r>
              <a:rPr lang="en-IN" b="1" dirty="0">
                <a:solidFill>
                  <a:srgbClr val="000000"/>
                </a:solidFill>
              </a:rPr>
              <a:t>Structured data for analysis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94433-192C-6776-50A1-1661D7740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58" y="1371600"/>
            <a:ext cx="6588557" cy="374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784" y="241402"/>
            <a:ext cx="4102607" cy="570219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Step 3: Exploratory Data Analysis (EDA)</a:t>
            </a:r>
          </a:p>
          <a:p>
            <a:pPr marL="0" indent="0">
              <a:buNone/>
            </a:pPr>
            <a:endParaRPr lang="en-US" sz="2400" b="1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Score distribution analysis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Gender-wise performance comparison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Parental education impact analysis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Lunch type impact study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D0BB8-E366-EB37-9404-7433E11A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331" y="82297"/>
            <a:ext cx="7666330" cy="3635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AEAA87-5D92-8222-CA05-9BA249C44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467" y="3811220"/>
            <a:ext cx="7776057" cy="304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7534656" cy="5054803"/>
          </a:xfrm>
        </p:spPr>
        <p:txBody>
          <a:bodyPr/>
          <a:lstStyle/>
          <a:p>
            <a:r>
              <a:rPr lang="en-IN" sz="2000" b="1" u="sng" dirty="0">
                <a:solidFill>
                  <a:srgbClr val="000000"/>
                </a:solidFill>
              </a:rPr>
              <a:t>Tools Used:</a:t>
            </a:r>
            <a:br>
              <a:rPr lang="en-IN" sz="2000" b="1" dirty="0">
                <a:solidFill>
                  <a:srgbClr val="000000"/>
                </a:solidFill>
              </a:rPr>
            </a:br>
            <a:br>
              <a:rPr lang="en-IN" sz="2000" b="1" dirty="0">
                <a:solidFill>
                  <a:srgbClr val="000000"/>
                </a:solidFill>
              </a:rPr>
            </a:br>
            <a:r>
              <a:rPr lang="en-IN" sz="2000" dirty="0">
                <a:solidFill>
                  <a:srgbClr val="000000"/>
                </a:solidFill>
              </a:rPr>
              <a:t>Python</a:t>
            </a:r>
            <a:br>
              <a:rPr lang="en-IN" sz="2000" dirty="0">
                <a:solidFill>
                  <a:srgbClr val="000000"/>
                </a:solidFill>
              </a:rPr>
            </a:br>
            <a:br>
              <a:rPr lang="en-IN" sz="2000" dirty="0">
                <a:solidFill>
                  <a:srgbClr val="000000"/>
                </a:solidFill>
              </a:rPr>
            </a:br>
            <a:r>
              <a:rPr lang="en-IN" sz="2000" dirty="0">
                <a:solidFill>
                  <a:srgbClr val="000000"/>
                </a:solidFill>
              </a:rPr>
              <a:t>Pandas</a:t>
            </a:r>
            <a:br>
              <a:rPr lang="en-IN" sz="2000" dirty="0">
                <a:solidFill>
                  <a:srgbClr val="000000"/>
                </a:solidFill>
              </a:rPr>
            </a:br>
            <a:br>
              <a:rPr lang="en-IN" sz="2000" dirty="0">
                <a:solidFill>
                  <a:srgbClr val="000000"/>
                </a:solidFill>
              </a:rPr>
            </a:br>
            <a:r>
              <a:rPr lang="en-IN" sz="2000" dirty="0">
                <a:solidFill>
                  <a:srgbClr val="000000"/>
                </a:solidFill>
              </a:rPr>
              <a:t>NumPy</a:t>
            </a:r>
            <a:br>
              <a:rPr lang="en-IN" sz="2000" dirty="0">
                <a:solidFill>
                  <a:srgbClr val="000000"/>
                </a:solidFill>
              </a:rPr>
            </a:br>
            <a:br>
              <a:rPr lang="en-IN" sz="2000" dirty="0">
                <a:solidFill>
                  <a:srgbClr val="000000"/>
                </a:solidFill>
              </a:rPr>
            </a:br>
            <a:r>
              <a:rPr lang="en-IN" sz="2000" dirty="0">
                <a:solidFill>
                  <a:srgbClr val="000000"/>
                </a:solidFill>
              </a:rPr>
              <a:t>Matplotlib</a:t>
            </a:r>
            <a:br>
              <a:rPr lang="en-IN" sz="2000" dirty="0">
                <a:solidFill>
                  <a:srgbClr val="000000"/>
                </a:solidFill>
              </a:rPr>
            </a:br>
            <a:br>
              <a:rPr lang="en-IN" sz="2000" dirty="0">
                <a:solidFill>
                  <a:srgbClr val="000000"/>
                </a:solidFill>
              </a:rPr>
            </a:br>
            <a:r>
              <a:rPr lang="en-IN" sz="2000" dirty="0">
                <a:solidFill>
                  <a:srgbClr val="000000"/>
                </a:solidFill>
              </a:rPr>
              <a:t>Seaborn</a:t>
            </a:r>
            <a:br>
              <a:rPr lang="en-IN" sz="2000" dirty="0">
                <a:solidFill>
                  <a:srgbClr val="000000"/>
                </a:solidFill>
              </a:rPr>
            </a:br>
            <a:br>
              <a:rPr lang="en-IN" sz="2000" dirty="0">
                <a:solidFill>
                  <a:srgbClr val="000000"/>
                </a:solidFill>
              </a:rPr>
            </a:br>
            <a:r>
              <a:rPr lang="en-IN" sz="2000" dirty="0" err="1">
                <a:solidFill>
                  <a:srgbClr val="000000"/>
                </a:solidFill>
              </a:rPr>
              <a:t>Jupyter</a:t>
            </a:r>
            <a:r>
              <a:rPr lang="en-IN" sz="2000" dirty="0">
                <a:solidFill>
                  <a:srgbClr val="000000"/>
                </a:solidFill>
              </a:rPr>
              <a:t> Notebook</a:t>
            </a:r>
            <a:br>
              <a:rPr lang="en-IN" sz="2000" dirty="0">
                <a:solidFill>
                  <a:srgbClr val="000000"/>
                </a:solidFill>
              </a:rPr>
            </a:br>
            <a:br>
              <a:rPr lang="en-IN" sz="2000" dirty="0">
                <a:solidFill>
                  <a:srgbClr val="000000"/>
                </a:solidFill>
              </a:rPr>
            </a:br>
            <a:r>
              <a:rPr lang="en-IN" sz="2000" dirty="0">
                <a:solidFill>
                  <a:srgbClr val="000000"/>
                </a:solidFill>
              </a:rPr>
              <a:t>Flow:</a:t>
            </a:r>
            <a:br>
              <a:rPr lang="en-IN" sz="2000" dirty="0">
                <a:solidFill>
                  <a:srgbClr val="000000"/>
                </a:solidFill>
              </a:rPr>
            </a:br>
            <a:br>
              <a:rPr lang="en-IN" sz="2000" dirty="0">
                <a:solidFill>
                  <a:srgbClr val="000000"/>
                </a:solidFill>
              </a:rPr>
            </a:br>
            <a:r>
              <a:rPr lang="en-IN" sz="2000" dirty="0">
                <a:solidFill>
                  <a:srgbClr val="000000"/>
                </a:solidFill>
              </a:rPr>
              <a:t>Data Collection → Cleaning → EDA → Statistical Testing → Interpretation</a:t>
            </a:r>
            <a:br>
              <a:rPr lang="en-IN" dirty="0">
                <a:solidFill>
                  <a:srgbClr val="000000"/>
                </a:solidFill>
              </a:rPr>
            </a:b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99338-58DF-B46B-ECD5-FCA979793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653" y="782725"/>
            <a:ext cx="7095744" cy="370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8756295" cy="4112972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00000"/>
                </a:solidFill>
              </a:rPr>
              <a:t>Major Observations:</a:t>
            </a:r>
          </a:p>
          <a:p>
            <a:endParaRPr lang="en-US" sz="2200" dirty="0">
              <a:solidFill>
                <a:srgbClr val="000000"/>
              </a:solidFill>
            </a:endParaRPr>
          </a:p>
          <a:p>
            <a:r>
              <a:rPr lang="en-US" sz="2200" dirty="0">
                <a:solidFill>
                  <a:srgbClr val="000000"/>
                </a:solidFill>
              </a:rPr>
              <a:t>Students with test preparation scored significantly higher.</a:t>
            </a:r>
          </a:p>
          <a:p>
            <a:endParaRPr lang="en-US" sz="2200" dirty="0">
              <a:solidFill>
                <a:srgbClr val="000000"/>
              </a:solidFill>
            </a:endParaRPr>
          </a:p>
          <a:p>
            <a:r>
              <a:rPr lang="en-US" sz="2200" dirty="0">
                <a:solidFill>
                  <a:srgbClr val="000000"/>
                </a:solidFill>
              </a:rPr>
              <a:t>Higher parental education correlates with better performance.</a:t>
            </a:r>
          </a:p>
          <a:p>
            <a:endParaRPr lang="en-US" sz="2200" dirty="0">
              <a:solidFill>
                <a:srgbClr val="000000"/>
              </a:solidFill>
            </a:endParaRPr>
          </a:p>
          <a:p>
            <a:r>
              <a:rPr lang="en-US" sz="2200" dirty="0">
                <a:solidFill>
                  <a:srgbClr val="000000"/>
                </a:solidFill>
              </a:rPr>
              <a:t>Standard lunch students performed better than free/reduced lunch students.</a:t>
            </a:r>
          </a:p>
          <a:p>
            <a:endParaRPr lang="en-US" sz="2200" dirty="0">
              <a:solidFill>
                <a:srgbClr val="000000"/>
              </a:solidFill>
            </a:endParaRPr>
          </a:p>
          <a:p>
            <a:r>
              <a:rPr lang="en-US" sz="2200" dirty="0">
                <a:solidFill>
                  <a:srgbClr val="000000"/>
                </a:solidFill>
              </a:rPr>
              <a:t>Reading &amp; Writing scores show very strong positive correlation.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D7D204-1FDB-9754-6A4C-0BCA46E9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" y="277978"/>
            <a:ext cx="10747858" cy="965606"/>
          </a:xfrm>
        </p:spPr>
        <p:txBody>
          <a:bodyPr/>
          <a:lstStyle/>
          <a:p>
            <a:r>
              <a:rPr lang="en-IN" u="sng" dirty="0">
                <a:solidFill>
                  <a:srgbClr val="000000"/>
                </a:solidFill>
              </a:rPr>
              <a:t>Results - </a:t>
            </a: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336499"/>
            <a:ext cx="6729984" cy="5543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u="sng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u="sng" dirty="0">
                <a:solidFill>
                  <a:srgbClr val="000000"/>
                </a:solidFill>
              </a:rPr>
              <a:t>References –</a:t>
            </a:r>
          </a:p>
          <a:p>
            <a:pPr marL="0" indent="0">
              <a:buNone/>
            </a:pPr>
            <a:endParaRPr lang="en-IN" u="sng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IN" u="sng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u="sng" dirty="0">
                <a:solidFill>
                  <a:srgbClr val="000000"/>
                </a:solidFill>
              </a:rPr>
              <a:t> </a:t>
            </a:r>
            <a:endParaRPr lang="en-US" u="sng" dirty="0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74865D-D688-BC12-6F53-13C2ECA0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33" y="2282416"/>
            <a:ext cx="683239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Educational Data Mining Research Papers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Statistical Methods in Educational Research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Python Data Analysis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Kaggle Dataset – Students Performance in Exams</a:t>
            </a:r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3AC80-D984-D06F-5381-A0CBFEE8F0D8}"/>
              </a:ext>
            </a:extLst>
          </p:cNvPr>
          <p:cNvSpPr txBox="1"/>
          <p:nvPr/>
        </p:nvSpPr>
        <p:spPr>
          <a:xfrm>
            <a:off x="519378" y="1907334"/>
            <a:ext cx="1135319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000000"/>
                </a:solidFill>
              </a:rPr>
              <a:t>                    THANK YOU </a:t>
            </a:r>
            <a:endParaRPr lang="en-IN" sz="5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{1DFFC793-271E-477A-820B-817F7668C568}TF1ed9553b-00c4-4092-846a-c8f7f2908f3beecd942f_win32-8e33096c3cfc</Template>
  <TotalTime>44</TotalTime>
  <Words>480</Words>
  <Application>Microsoft Office PowerPoint</Application>
  <PresentationFormat>Widescreen</PresentationFormat>
  <Paragraphs>123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Agency FB</vt:lpstr>
      <vt:lpstr>Aharoni</vt:lpstr>
      <vt:lpstr>Arial</vt:lpstr>
      <vt:lpstr>Calibri</vt:lpstr>
      <vt:lpstr>Courier New</vt:lpstr>
      <vt:lpstr>Gill Sans Nova Light</vt:lpstr>
      <vt:lpstr>Sagona Book</vt:lpstr>
      <vt:lpstr>Custom</vt:lpstr>
      <vt:lpstr>School of Computer Science and Engineering Department of Computer Science and Engineering </vt:lpstr>
      <vt:lpstr>PowerPoint Presentation</vt:lpstr>
      <vt:lpstr>The dataset contains:  1000 student records  Academic scores in Math, Reading, Writing Demographic &amp; socioeconomic factors  Test preparation information  This analysis aims to derive meaningful insights using exploratory data analysis and statistical techniques. </vt:lpstr>
      <vt:lpstr>PowerPoint Presentation</vt:lpstr>
      <vt:lpstr>Studies indicate that:  Gender differences exist in subject-wise performance.  Students from financially stable backgrounds perform better.  Data-driven interventions improve academic outcomes.  This project builds upon these findings using real-world student exam data. </vt:lpstr>
      <vt:lpstr>Problem Statement -  </vt:lpstr>
      <vt:lpstr>Proposed Methodology - </vt:lpstr>
      <vt:lpstr>PowerPoint Presentation</vt:lpstr>
      <vt:lpstr>Tools Used:  Python  Pandas  NumPy  Matplotlib  Seaborn  Jupyter Notebook  Flow:  Data Collection → Cleaning → EDA → Statistical Testing → Interpretation </vt:lpstr>
      <vt:lpstr>Results -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Shukla</dc:creator>
  <cp:lastModifiedBy>Ananya Shukla</cp:lastModifiedBy>
  <cp:revision>1</cp:revision>
  <dcterms:created xsi:type="dcterms:W3CDTF">2026-02-12T16:38:24Z</dcterms:created>
  <dcterms:modified xsi:type="dcterms:W3CDTF">2026-02-12T17:23:09Z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